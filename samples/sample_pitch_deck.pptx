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Founded 2023. Two clinical ops founders out of a large ortho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Sourcing: AMA 2024 prior auth physician survey. The FTE ratio is from our own customer discovery across 40 clinics, not a published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CMS rule is the wedge. Payers must expose APIs; nobody has built the clinic-side workflow layer on top of them for specialty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engine is the actual asset. Portal fallback is unglamorous but it is why we work today rather than in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91% vs 79% is our strongest number and it is measured, not modelled. Turnaround comparison is from the same four pilot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 not publish list pricing. Deals are negotiated per practice. That is a gap we know investors will push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Patent is filed, not granted. Do not let anyone leave the room thinking it is granted.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thin and we know it. The honest answer is that Cohere and Rhyme are real, and the incumbents could move down-market.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Channel is the leverage point but nothing is signed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full-time sales leader yet. CEO is still carrying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lead yet. That is the single biggest thing this round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Kestrel Authorization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KestrelPA — autonomous prior authorization for specialty clinics</a:t>
            </a:r>
          </a:p>
          <a:p>
            <a:pPr>
              <a:defRPr sz="1800"/>
            </a:pPr>
            <a:r>
              <a:t>Seed round | Austin, TX | kestrelauth.example</a:t>
            </a:r>
          </a:p>
          <a:p>
            <a:pPr>
              <a:defRPr sz="1800"/>
            </a:pPr>
            <a:r>
              <a:t>Confidential —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Prior authorization consumes 13.7 hours per physician per week (AMA 2024 survey)</a:t>
            </a:r>
          </a:p>
          <a:p>
            <a:pPr>
              <a:defRPr sz="1800"/>
            </a:pPr>
            <a:r>
              <a:t>94% of physicians report care delays caused by PA; 24% report serious adverse events</a:t>
            </a:r>
          </a:p>
          <a:p>
            <a:pPr>
              <a:defRPr sz="1800"/>
            </a:pPr>
            <a:r>
              <a:t>Average specialty clinic employs 1 FTE per 3 providers purely for authorization work</a:t>
            </a:r>
          </a:p>
          <a:p>
            <a:pPr>
              <a:defRPr sz="1800"/>
            </a:pPr>
            <a:r>
              <a:t>Denials on first submission run 18-22% industry-wide, driving costly rework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CMS Interoperability and Prior Authorization Final Rule (CMS-0057-F) mandates</a:t>
            </a:r>
          </a:p>
          <a:p>
            <a:pPr>
              <a:defRPr sz="1800"/>
            </a:pPr>
            <a:r>
              <a:t>  electronic PA APIs for impacted payers by January 2027</a:t>
            </a:r>
          </a:p>
          <a:p>
            <a:pPr>
              <a:defRPr sz="1800"/>
            </a:pPr>
            <a:r>
              <a:t>Payer FHIR endpoints becoming available creates a machine-readable submission path</a:t>
            </a:r>
          </a:p>
          <a:p>
            <a:pPr>
              <a:defRPr sz="1800"/>
            </a:pPr>
            <a:r>
              <a:t>Staffing shortages make the manual approach structurally unsustainable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KestrelPA reads the chart, assembles the clinical packet, and submits to the payer</a:t>
            </a:r>
          </a:p>
          <a:p>
            <a:pPr>
              <a:defRPr sz="1800"/>
            </a:pPr>
            <a:r>
              <a:t>Payer-specific rules engine covering 240 plans across ortho, GI and cardiology</a:t>
            </a:r>
          </a:p>
          <a:p>
            <a:pPr>
              <a:defRPr sz="1800"/>
            </a:pPr>
            <a:r>
              <a:t>Submits via FHIR where available, falls back to portal automation elsewhere</a:t>
            </a:r>
          </a:p>
          <a:p>
            <a:pPr>
              <a:defRPr sz="1800"/>
            </a:pPr>
            <a:r>
              <a:t>Clinic staff review an exception queue instead of doing data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8 paying specialty clinics; 3 in ortho, 3 GI, 2 cardiology</a:t>
            </a:r>
          </a:p>
          <a:p>
            <a:pPr>
              <a:defRPr sz="1800"/>
            </a:pPr>
            <a:r>
              <a:t>142,000 authorizations processed since January 2025</a:t>
            </a:r>
          </a:p>
          <a:p>
            <a:pPr>
              <a:defRPr sz="1800"/>
            </a:pPr>
            <a:r>
              <a:t>First-pass approval rate of 91% vs 79% clinic baseline (measured across 4 pilots)</a:t>
            </a:r>
          </a:p>
          <a:p>
            <a:pPr>
              <a:defRPr sz="1800"/>
            </a:pPr>
            <a:r>
              <a:t>Median turnaround 4.2 hours vs 3.1 days pre-deployment</a:t>
            </a:r>
          </a:p>
          <a:p>
            <a:pPr>
              <a:defRPr sz="1800"/>
            </a:pPr>
            <a:r>
              <a:t>Net revenue retention 118% over trailing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SaaS subscription per provider per month, plus per-authorization usage fee</a:t>
            </a:r>
          </a:p>
          <a:p>
            <a:pPr>
              <a:defRPr sz="1800"/>
            </a:pPr>
            <a:r>
              <a:t>Land with a single specialty line, expand across the practice</a:t>
            </a:r>
          </a:p>
          <a:p>
            <a:pPr>
              <a:defRPr sz="1800"/>
            </a:pPr>
            <a:r>
              <a:t>Current ARR $840K; average contract value $105K</a:t>
            </a:r>
          </a:p>
          <a:p>
            <a:pPr>
              <a:defRPr sz="1800"/>
            </a:pPr>
            <a:r>
              <a:t>Gross margin 71% and improving as portal automation gives way to FHIR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Proprietary payer rules corpus: 240 plans, updated from 142K live submissions</a:t>
            </a:r>
          </a:p>
          <a:p>
            <a:pPr>
              <a:defRPr sz="1800"/>
            </a:pPr>
            <a:r>
              <a:t>US patent application filed (17/xxx,xxx) covering adaptive packet assembly</a:t>
            </a:r>
          </a:p>
          <a:p>
            <a:pPr>
              <a:defRPr sz="1800"/>
            </a:pPr>
            <a:r>
              <a:t>Every denial is labelled training data — the corpus compounds with volume</a:t>
            </a:r>
          </a:p>
          <a:p>
            <a:pPr>
              <a:defRPr sz="1800"/>
            </a:pPr>
            <a:r>
              <a:t>SOC 2 Type II complete; HIPAA BAAs in place with all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Legacy clearinghouses (Availity, Waystar) — transaction plumbing, not clinical workflow</a:t>
            </a:r>
          </a:p>
          <a:p>
            <a:pPr>
              <a:defRPr sz="1800"/>
            </a:pPr>
            <a:r>
              <a:t>Point solutions focused on payer side rather than the specialty clinic</a:t>
            </a:r>
          </a:p>
          <a:p>
            <a:pPr>
              <a:defRPr sz="1800"/>
            </a:pPr>
            <a:r>
              <a:t>KestrelPA is 10x faster than the manual process and far easier to adopt</a:t>
            </a:r>
          </a:p>
          <a:p>
            <a:pPr>
              <a:defRPr sz="1800"/>
            </a:pPr>
            <a:r>
              <a:t>We are the only solution purpose-built for the specialty clinic exception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Direct sales to practice administrators; 62-day average sales cycle</a:t>
            </a:r>
          </a:p>
          <a:p>
            <a:pPr>
              <a:defRPr sz="1800"/>
            </a:pPr>
            <a:r>
              <a:t>Two channel conversations underway with specialty-focused EHR vendors</a:t>
            </a:r>
          </a:p>
          <a:p>
            <a:pPr>
              <a:defRPr sz="1800"/>
            </a:pPr>
            <a:r>
              <a:t>Specialty society conferences as primary top-of-funnel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CEO — 11 years running revenue cycle operations for a 40-provider ortho group</a:t>
            </a:r>
          </a:p>
          <a:p>
            <a:pPr>
              <a:defRPr sz="1800"/>
            </a:pPr>
            <a:r>
              <a:t>CTO — former staff engineer, healthcare interoperability platform</a:t>
            </a:r>
          </a:p>
          <a:p>
            <a:pPr>
              <a:defRPr sz="1800"/>
            </a:pPr>
            <a:r>
              <a:t>VP Clinical Ops — RN, certified professional coder</a:t>
            </a:r>
          </a:p>
          <a:p>
            <a:pPr>
              <a:defRPr sz="1800"/>
            </a:pPr>
            <a:r>
              <a:t>9 FTE total; hiring two payer integration engineers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Raising $6M seed to reach 40 clinics and $4M ARR</a:t>
            </a:r>
          </a:p>
          <a:p>
            <a:pPr>
              <a:defRPr sz="1800"/>
            </a:pPr>
            <a:r>
              <a:t>Use of proceeds: 45% engineering, 30% go-to-market, 25% payer integrations</a:t>
            </a:r>
          </a:p>
          <a:p>
            <a:pPr>
              <a:defRPr sz="1800"/>
            </a:pPr>
            <a:r>
              <a:t>18 months of runway at planned burn</a:t>
            </a:r>
          </a:p>
          <a:p>
            <a:pPr>
              <a:defRPr sz="1800"/>
            </a:pPr>
            <a:r>
              <a:t>Round is open; lead not yet committed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 at $4M ARR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Average contract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CAC 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months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Net revenue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